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2" r:id="rId2"/>
    <p:sldMasterId id="2147483676" r:id="rId3"/>
  </p:sldMasterIdLst>
  <p:notesMasterIdLst>
    <p:notesMasterId r:id="rId9"/>
  </p:notesMasterIdLst>
  <p:sldIdLst>
    <p:sldId id="256" r:id="rId4"/>
    <p:sldId id="262" r:id="rId5"/>
    <p:sldId id="260" r:id="rId6"/>
    <p:sldId id="263" r:id="rId7"/>
    <p:sldId id="264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Ay8offxF4J7yWKIMxjlBSnkpr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1209B7A2-6702-1456-1135-ED572154D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>
            <a:extLst>
              <a:ext uri="{FF2B5EF4-FFF2-40B4-BE49-F238E27FC236}">
                <a16:creationId xmlns:a16="http://schemas.microsoft.com/office/drawing/2014/main" id="{2041AFE9-788A-0603-6346-4F35A5866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5:notes">
            <a:extLst>
              <a:ext uri="{FF2B5EF4-FFF2-40B4-BE49-F238E27FC236}">
                <a16:creationId xmlns:a16="http://schemas.microsoft.com/office/drawing/2014/main" id="{38079F42-6F16-1859-FB27-F8557CCBE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47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E9630B4B-DFC2-3281-CEB9-BF13B636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>
            <a:extLst>
              <a:ext uri="{FF2B5EF4-FFF2-40B4-BE49-F238E27FC236}">
                <a16:creationId xmlns:a16="http://schemas.microsoft.com/office/drawing/2014/main" id="{532EB1E6-F131-1DFB-725E-FE2400947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5:notes">
            <a:extLst>
              <a:ext uri="{FF2B5EF4-FFF2-40B4-BE49-F238E27FC236}">
                <a16:creationId xmlns:a16="http://schemas.microsoft.com/office/drawing/2014/main" id="{2DC7548E-DF0A-D50F-5DFA-811E9BFCB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1211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94B2DAF2-E560-FCB0-E496-9A6D4C37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>
            <a:extLst>
              <a:ext uri="{FF2B5EF4-FFF2-40B4-BE49-F238E27FC236}">
                <a16:creationId xmlns:a16="http://schemas.microsoft.com/office/drawing/2014/main" id="{AB035E15-86A2-3508-F99D-270E7AD80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5:notes">
            <a:extLst>
              <a:ext uri="{FF2B5EF4-FFF2-40B4-BE49-F238E27FC236}">
                <a16:creationId xmlns:a16="http://schemas.microsoft.com/office/drawing/2014/main" id="{17E17661-E2EA-4850-4CCA-9D4503A21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356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1D8EF11B-7A0A-1DB1-677A-067AB655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>
            <a:extLst>
              <a:ext uri="{FF2B5EF4-FFF2-40B4-BE49-F238E27FC236}">
                <a16:creationId xmlns:a16="http://schemas.microsoft.com/office/drawing/2014/main" id="{D27C16B4-6D9F-7DB9-9CD2-D02BA0723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5:notes">
            <a:extLst>
              <a:ext uri="{FF2B5EF4-FFF2-40B4-BE49-F238E27FC236}">
                <a16:creationId xmlns:a16="http://schemas.microsoft.com/office/drawing/2014/main" id="{FC11D3B5-E1B0-2CD1-9CDD-99667576A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099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parator Page 2">
  <p:cSld name="Separator Pag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3">
  <p:cSld name="Master 3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  <a:endParaRPr dirty="0"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62" name="Google Shape;62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69" name="Google Shape;69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7"/>
          <p:cNvSpPr txBox="1"/>
          <p:nvPr/>
        </p:nvSpPr>
        <p:spPr>
          <a:xfrm>
            <a:off x="3136197" y="-304560"/>
            <a:ext cx="1846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148" name="Google Shape;148;p3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6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2" name="Google Shape;152;p36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155" name="Google Shape;155;p3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7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7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162" name="Google Shape;162;p3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3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38"/>
          <p:cNvSpPr txBox="1"/>
          <p:nvPr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9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3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Kaustubh Indane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2" name="Google Shape;182;p4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3" name="Google Shape;18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6" name="Google Shape;18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0" name="Google Shape;19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4" name="Google Shape;194;p4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5" name="Google Shape;19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5" name="Google Shape;205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9" name="Google Shape;209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0" name="Google Shape;210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1" name="Google Shape;211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14" name="Google Shape;214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7" name="Google Shape;217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Kaustubh Indane</a:t>
            </a:r>
          </a:p>
        </p:txBody>
      </p:sp>
      <p:sp>
        <p:nvSpPr>
          <p:cNvPr id="11" name="Google Shape;11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descr="NWU PPT Wide Opt 2_Master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Kaustubh Indane</a:t>
            </a:r>
            <a:endParaRPr dirty="0"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858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"/>
          <p:cNvSpPr txBox="1">
            <a:spLocks noGrp="1"/>
          </p:cNvSpPr>
          <p:nvPr>
            <p:ph type="subTitle" idx="1"/>
          </p:nvPr>
        </p:nvSpPr>
        <p:spPr>
          <a:xfrm>
            <a:off x="0" y="1950855"/>
            <a:ext cx="9144000" cy="9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800" b="1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Analysis of Wafer Defect Patterns to Assess Yield, </a:t>
            </a:r>
          </a:p>
          <a:p>
            <a:pPr marL="0" indent="0">
              <a:spcBef>
                <a:spcPts val="0"/>
              </a:spcBef>
            </a:pPr>
            <a:r>
              <a:rPr lang="en-US" sz="1800" b="1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Prevalence, and Automate Wafer Defect Classification</a:t>
            </a:r>
          </a:p>
          <a:p>
            <a:pPr marL="0" indent="0">
              <a:spcBef>
                <a:spcPts val="0"/>
              </a:spcBef>
            </a:pPr>
            <a:r>
              <a:rPr lang="en-US" sz="1800" b="1" kern="1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Presentation</a:t>
            </a:r>
          </a:p>
          <a:p>
            <a:pPr marL="0" indent="0">
              <a:spcBef>
                <a:spcPts val="0"/>
              </a:spcBef>
            </a:pPr>
            <a:endParaRPr lang="en-US" sz="1800" b="1" kern="100" dirty="0">
              <a:solidFill>
                <a:srgbClr val="0E101A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0"/>
              </a:spcBef>
            </a:pPr>
            <a:r>
              <a:rPr lang="en-US" sz="1600" b="1" kern="100" dirty="0">
                <a:solidFill>
                  <a:srgbClr val="0E101A"/>
                </a:solidFill>
                <a:latin typeface="Calibri"/>
                <a:ea typeface="Calibri"/>
                <a:cs typeface="Calibri"/>
                <a:sym typeface="Calibri"/>
              </a:rPr>
              <a:t>Kaustubh Indane</a:t>
            </a:r>
            <a:endParaRPr lang="en-US" sz="1600" kern="1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44FD3B61-9910-2B2E-1D44-A8429E56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>
            <a:extLst>
              <a:ext uri="{FF2B5EF4-FFF2-40B4-BE49-F238E27FC236}">
                <a16:creationId xmlns:a16="http://schemas.microsoft.com/office/drawing/2014/main" id="{202165D8-8366-03BA-742B-BA461D95B1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-6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9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  <a:endParaRPr sz="29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" name="Google Shape;256;p5">
            <a:extLst>
              <a:ext uri="{FF2B5EF4-FFF2-40B4-BE49-F238E27FC236}">
                <a16:creationId xmlns:a16="http://schemas.microsoft.com/office/drawing/2014/main" id="{848040E6-9DB3-87A1-D8D9-C15D81E415A7}"/>
              </a:ext>
            </a:extLst>
          </p:cNvPr>
          <p:cNvSpPr txBox="1"/>
          <p:nvPr/>
        </p:nvSpPr>
        <p:spPr>
          <a:xfrm>
            <a:off x="160950" y="755987"/>
            <a:ext cx="88221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Audience: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Managers &amp; Engineers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i="0" u="sng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Manual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defect inspection costs engineering time and delays process improvements. Semiconductor manufacturing depends on defect reduction to optimize yield. Goal is to develop an automated classification system to save $500k - $2M in classification costs annually.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u="sng" dirty="0">
                <a:latin typeface="Calibri"/>
                <a:ea typeface="Calibri"/>
                <a:cs typeface="Calibri"/>
                <a:sym typeface="Calibri"/>
              </a:rPr>
              <a:t>Research Questions: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Can we quantify and prioritize resolutions of defect classes based on yield and prevalence?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Can we provide insights to assist engineers with root cause sourcing of defects?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we develop strong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, efficient model with high accuracy and low computation time for implementation?</a:t>
            </a:r>
            <a:endParaRPr lang="en-US" sz="140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>
            <a:extLst>
              <a:ext uri="{FF2B5EF4-FFF2-40B4-BE49-F238E27FC236}">
                <a16:creationId xmlns:a16="http://schemas.microsoft.com/office/drawing/2014/main" id="{7738ACEC-7280-8346-6858-2DC6A1D4FC1C}"/>
              </a:ext>
            </a:extLst>
          </p:cNvPr>
          <p:cNvSpPr txBox="1"/>
          <p:nvPr/>
        </p:nvSpPr>
        <p:spPr>
          <a:xfrm>
            <a:off x="8568025" y="5189525"/>
            <a:ext cx="91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7A4BC-112B-B0B3-FBFD-96C032F01963}"/>
              </a:ext>
            </a:extLst>
          </p:cNvPr>
          <p:cNvSpPr txBox="1"/>
          <p:nvPr/>
        </p:nvSpPr>
        <p:spPr>
          <a:xfrm>
            <a:off x="3863163" y="4800282"/>
            <a:ext cx="1417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Kaustubh Indane</a:t>
            </a:r>
          </a:p>
        </p:txBody>
      </p:sp>
    </p:spTree>
    <p:extLst>
      <p:ext uri="{BB962C8B-B14F-4D97-AF65-F5344CB8AC3E}">
        <p14:creationId xmlns:p14="http://schemas.microsoft.com/office/powerpoint/2010/main" val="313800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94CC10B3-3983-6DA4-4882-03864689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>
            <a:extLst>
              <a:ext uri="{FF2B5EF4-FFF2-40B4-BE49-F238E27FC236}">
                <a16:creationId xmlns:a16="http://schemas.microsoft.com/office/drawing/2014/main" id="{8C37C031-346F-CECD-0B01-BEACB9BFC56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-6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9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Insights – For Engineers</a:t>
            </a:r>
            <a:endParaRPr sz="29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" name="Google Shape;256;p5">
            <a:extLst>
              <a:ext uri="{FF2B5EF4-FFF2-40B4-BE49-F238E27FC236}">
                <a16:creationId xmlns:a16="http://schemas.microsoft.com/office/drawing/2014/main" id="{F2B0CABB-330E-8211-7113-9B5BAE2C8ED1}"/>
              </a:ext>
            </a:extLst>
          </p:cNvPr>
          <p:cNvSpPr txBox="1"/>
          <p:nvPr/>
        </p:nvSpPr>
        <p:spPr>
          <a:xfrm>
            <a:off x="161000" y="763075"/>
            <a:ext cx="5462368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yield loss = 8.17%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Defect Resolution Prioritization: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Slot dependency: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wafers in lots show higher defect rates → recommend more lot buffering with dummy wafers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Edge-Ring defects spiked in Lots 26400–32400 → engineers should investigate tool/process changes.</a:t>
            </a:r>
            <a:endParaRPr lang="en-US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57" name="Google Shape;257;p5">
            <a:extLst>
              <a:ext uri="{FF2B5EF4-FFF2-40B4-BE49-F238E27FC236}">
                <a16:creationId xmlns:a16="http://schemas.microsoft.com/office/drawing/2014/main" id="{46EB653C-B9AA-7811-9409-C4CCD2ADD5DF}"/>
              </a:ext>
            </a:extLst>
          </p:cNvPr>
          <p:cNvSpPr txBox="1"/>
          <p:nvPr/>
        </p:nvSpPr>
        <p:spPr>
          <a:xfrm>
            <a:off x="8568025" y="5189525"/>
            <a:ext cx="91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F9951-3B0D-C70A-55EA-7E174107A09D}"/>
              </a:ext>
            </a:extLst>
          </p:cNvPr>
          <p:cNvSpPr txBox="1"/>
          <p:nvPr/>
        </p:nvSpPr>
        <p:spPr>
          <a:xfrm>
            <a:off x="3863163" y="4800282"/>
            <a:ext cx="1417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Kaustubh Indane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2E29A-F7CE-72B5-BFA7-8290BA3C28B3}"/>
              </a:ext>
            </a:extLst>
          </p:cNvPr>
          <p:cNvSpPr txBox="1"/>
          <p:nvPr/>
        </p:nvSpPr>
        <p:spPr>
          <a:xfrm>
            <a:off x="366823" y="1525313"/>
            <a:ext cx="88746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 Defects: Highest total yield loss (~13.9% per wafer).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Defects: High yield loss, further classification needed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Scratch, Edge-Ring, Near-full, Donut: Lowest impact, low priority</a:t>
            </a:r>
          </a:p>
        </p:txBody>
      </p:sp>
      <p:pic>
        <p:nvPicPr>
          <p:cNvPr id="11" name="Picture 10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F21CA357-D1ED-71BF-87D1-961FE3944B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"/>
          <a:stretch/>
        </p:blipFill>
        <p:spPr>
          <a:xfrm>
            <a:off x="5526163" y="1332395"/>
            <a:ext cx="3556074" cy="24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0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ED42B7B7-3642-416D-6BE0-A064C38C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>
            <a:extLst>
              <a:ext uri="{FF2B5EF4-FFF2-40B4-BE49-F238E27FC236}">
                <a16:creationId xmlns:a16="http://schemas.microsoft.com/office/drawing/2014/main" id="{1958F49B-ACBD-5BEC-BA40-074AAAA516C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-6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9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Methodology</a:t>
            </a:r>
            <a:endParaRPr sz="29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" name="Google Shape;256;p5">
            <a:extLst>
              <a:ext uri="{FF2B5EF4-FFF2-40B4-BE49-F238E27FC236}">
                <a16:creationId xmlns:a16="http://schemas.microsoft.com/office/drawing/2014/main" id="{DC45172C-BFF0-35F6-0780-908B03FF990F}"/>
              </a:ext>
            </a:extLst>
          </p:cNvPr>
          <p:cNvSpPr txBox="1"/>
          <p:nvPr/>
        </p:nvSpPr>
        <p:spPr>
          <a:xfrm>
            <a:off x="161000" y="763075"/>
            <a:ext cx="8822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MIR-WM118K Dataset - 9 defect class buckets </a:t>
            </a:r>
          </a:p>
        </p:txBody>
      </p:sp>
      <p:sp>
        <p:nvSpPr>
          <p:cNvPr id="257" name="Google Shape;257;p5">
            <a:extLst>
              <a:ext uri="{FF2B5EF4-FFF2-40B4-BE49-F238E27FC236}">
                <a16:creationId xmlns:a16="http://schemas.microsoft.com/office/drawing/2014/main" id="{B42A91B7-99B3-FF8E-5DA2-A61DA9A0BC5C}"/>
              </a:ext>
            </a:extLst>
          </p:cNvPr>
          <p:cNvSpPr txBox="1"/>
          <p:nvPr/>
        </p:nvSpPr>
        <p:spPr>
          <a:xfrm>
            <a:off x="8568025" y="5189525"/>
            <a:ext cx="91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2DA27-36A1-F5F6-9D30-9ECB733D28C2}"/>
              </a:ext>
            </a:extLst>
          </p:cNvPr>
          <p:cNvSpPr txBox="1"/>
          <p:nvPr/>
        </p:nvSpPr>
        <p:spPr>
          <a:xfrm>
            <a:off x="3863163" y="4800282"/>
            <a:ext cx="1417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Kaustubh Indane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4DAA00-490C-5F8E-94D3-62E8B7F21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5"/>
          <a:stretch/>
        </p:blipFill>
        <p:spPr>
          <a:xfrm>
            <a:off x="963247" y="1135466"/>
            <a:ext cx="7217506" cy="786810"/>
          </a:xfrm>
          <a:prstGeom prst="rect">
            <a:avLst/>
          </a:prstGeom>
        </p:spPr>
      </p:pic>
      <p:sp>
        <p:nvSpPr>
          <p:cNvPr id="3" name="Google Shape;256;p5">
            <a:extLst>
              <a:ext uri="{FF2B5EF4-FFF2-40B4-BE49-F238E27FC236}">
                <a16:creationId xmlns:a16="http://schemas.microsoft.com/office/drawing/2014/main" id="{F048A914-5ED4-CCB1-A6B3-893E18F1BDF1}"/>
              </a:ext>
            </a:extLst>
          </p:cNvPr>
          <p:cNvSpPr txBox="1"/>
          <p:nvPr/>
        </p:nvSpPr>
        <p:spPr>
          <a:xfrm>
            <a:off x="160950" y="1922276"/>
            <a:ext cx="88221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k-NN Model: Baseline Model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endParaRPr lang="en-US"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Random Forest Model: Baseline Model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 CNN: High Accuracy Model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endParaRPr lang="en-US"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MobileNetv2: Industry Benchmark Model</a:t>
            </a:r>
            <a:endParaRPr lang="en-US"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80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16397636-2F09-A531-06E1-FA7E1D047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>
            <a:extLst>
              <a:ext uri="{FF2B5EF4-FFF2-40B4-BE49-F238E27FC236}">
                <a16:creationId xmlns:a16="http://schemas.microsoft.com/office/drawing/2014/main" id="{D30B6F91-54B9-FA8A-013C-CF52F224E25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-6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9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</a:t>
            </a:r>
            <a:endParaRPr sz="29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" name="Google Shape;256;p5">
            <a:extLst>
              <a:ext uri="{FF2B5EF4-FFF2-40B4-BE49-F238E27FC236}">
                <a16:creationId xmlns:a16="http://schemas.microsoft.com/office/drawing/2014/main" id="{E497CA6E-45A0-C104-5047-9B9238892EF7}"/>
              </a:ext>
            </a:extLst>
          </p:cNvPr>
          <p:cNvSpPr txBox="1"/>
          <p:nvPr/>
        </p:nvSpPr>
        <p:spPr>
          <a:xfrm>
            <a:off x="161000" y="763075"/>
            <a:ext cx="8822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>
            <a:extLst>
              <a:ext uri="{FF2B5EF4-FFF2-40B4-BE49-F238E27FC236}">
                <a16:creationId xmlns:a16="http://schemas.microsoft.com/office/drawing/2014/main" id="{B0CD7E96-C479-CBAA-7979-1B1A67319D6F}"/>
              </a:ext>
            </a:extLst>
          </p:cNvPr>
          <p:cNvSpPr txBox="1"/>
          <p:nvPr/>
        </p:nvSpPr>
        <p:spPr>
          <a:xfrm>
            <a:off x="8568025" y="5189525"/>
            <a:ext cx="91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C52F8-9C4F-91F5-3981-FA35C8EA77EF}"/>
              </a:ext>
            </a:extLst>
          </p:cNvPr>
          <p:cNvSpPr txBox="1"/>
          <p:nvPr/>
        </p:nvSpPr>
        <p:spPr>
          <a:xfrm>
            <a:off x="3863163" y="4800282"/>
            <a:ext cx="1417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Kaustubh Indane</a:t>
            </a:r>
          </a:p>
        </p:txBody>
      </p:sp>
      <p:sp>
        <p:nvSpPr>
          <p:cNvPr id="2" name="Google Shape;256;p5">
            <a:extLst>
              <a:ext uri="{FF2B5EF4-FFF2-40B4-BE49-F238E27FC236}">
                <a16:creationId xmlns:a16="http://schemas.microsoft.com/office/drawing/2014/main" id="{1781F8BD-FBBE-D527-D638-01268C5AEC66}"/>
              </a:ext>
            </a:extLst>
          </p:cNvPr>
          <p:cNvSpPr txBox="1"/>
          <p:nvPr/>
        </p:nvSpPr>
        <p:spPr>
          <a:xfrm>
            <a:off x="160900" y="879009"/>
            <a:ext cx="88221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 CNN model had best accuracy (94%) and fastest computation time (2.6 seconds)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. Ideal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model for implementation.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Further Studies/Improvements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52020-DD62-A7E7-5D9E-4985B2B16298}"/>
              </a:ext>
            </a:extLst>
          </p:cNvPr>
          <p:cNvSpPr txBox="1"/>
          <p:nvPr/>
        </p:nvSpPr>
        <p:spPr>
          <a:xfrm>
            <a:off x="921489" y="1402009"/>
            <a:ext cx="5213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Misclassifies ~25% of Loc, Scratch, and Edge-Loc defects as ‘none’</a:t>
            </a:r>
          </a:p>
        </p:txBody>
      </p:sp>
      <p:pic>
        <p:nvPicPr>
          <p:cNvPr id="6" name="Picture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42A0F86F-3BB8-F1C3-99B2-7205FC2FB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445" y="1279088"/>
            <a:ext cx="3008555" cy="2483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8B9D15-36F7-C09F-C562-7A2681E17577}"/>
              </a:ext>
            </a:extLst>
          </p:cNvPr>
          <p:cNvSpPr txBox="1"/>
          <p:nvPr/>
        </p:nvSpPr>
        <p:spPr>
          <a:xfrm>
            <a:off x="921489" y="2259460"/>
            <a:ext cx="51532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Ensemble voting methods for better recall + accuracy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Transformer-based vision models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MobileNetv2 implementation, which is optimized for multi-channel (RGB) with high benchmarks for performance on wafer defect classification. Helps classify defect morphologies at an individual level instead of broad defect patterns</a:t>
            </a:r>
            <a:endParaRPr lang="en-US" sz="140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6306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On-screen Show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Office Theme</vt:lpstr>
      <vt:lpstr>Simple Light</vt:lpstr>
      <vt:lpstr>PowerPoint Presentation</vt:lpstr>
      <vt:lpstr>Motivation</vt:lpstr>
      <vt:lpstr>EDA Insights – For Engineers</vt:lpstr>
      <vt:lpstr>Modeling Methodology</vt:lpstr>
      <vt:lpstr>Business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Osama Assaf</dc:creator>
  <cp:lastModifiedBy>Kaustubh Indane</cp:lastModifiedBy>
  <cp:revision>1</cp:revision>
  <dcterms:modified xsi:type="dcterms:W3CDTF">2025-03-16T10:29:45Z</dcterms:modified>
</cp:coreProperties>
</file>